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82" r:id="rId10"/>
    <p:sldId id="264" r:id="rId11"/>
    <p:sldId id="265" r:id="rId12"/>
    <p:sldId id="266" r:id="rId13"/>
    <p:sldId id="281" r:id="rId14"/>
    <p:sldId id="269" r:id="rId15"/>
    <p:sldId id="270" r:id="rId16"/>
    <p:sldId id="271" r:id="rId17"/>
    <p:sldId id="267" r:id="rId18"/>
    <p:sldId id="268" r:id="rId19"/>
    <p:sldId id="272" r:id="rId20"/>
    <p:sldId id="273" r:id="rId21"/>
    <p:sldId id="274" r:id="rId22"/>
    <p:sldId id="276" r:id="rId23"/>
    <p:sldId id="277" r:id="rId24"/>
    <p:sldId id="278" r:id="rId25"/>
    <p:sldId id="275" r:id="rId26"/>
    <p:sldId id="279" r:id="rId27"/>
    <p:sldId id="280" r:id="rId2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40" autoAdjust="0"/>
    <p:restoredTop sz="94660"/>
  </p:normalViewPr>
  <p:slideViewPr>
    <p:cSldViewPr snapToGrid="0">
      <p:cViewPr>
        <p:scale>
          <a:sx n="80" d="100"/>
          <a:sy n="80" d="100"/>
        </p:scale>
        <p:origin x="294" y="-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90E77E-673E-4250-A106-CFE1ADCFFCBD}" type="datetimeFigureOut">
              <a:rPr lang="en-IN" smtClean="0"/>
              <a:t>02-06-2026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07AF72-5B58-4E25-9F4A-2CCF68575A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621253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90E77E-673E-4250-A106-CFE1ADCFFCBD}" type="datetimeFigureOut">
              <a:rPr lang="en-IN" smtClean="0"/>
              <a:t>02-06-2026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07AF72-5B58-4E25-9F4A-2CCF68575A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698543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90E77E-673E-4250-A106-CFE1ADCFFCBD}" type="datetimeFigureOut">
              <a:rPr lang="en-IN" smtClean="0"/>
              <a:t>02-06-2026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07AF72-5B58-4E25-9F4A-2CCF68575A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21195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90E77E-673E-4250-A106-CFE1ADCFFCBD}" type="datetimeFigureOut">
              <a:rPr lang="en-IN" smtClean="0"/>
              <a:t>02-06-2026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07AF72-5B58-4E25-9F4A-2CCF68575A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770754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90E77E-673E-4250-A106-CFE1ADCFFCBD}" type="datetimeFigureOut">
              <a:rPr lang="en-IN" smtClean="0"/>
              <a:t>02-06-2026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07AF72-5B58-4E25-9F4A-2CCF68575A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042486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90E77E-673E-4250-A106-CFE1ADCFFCBD}" type="datetimeFigureOut">
              <a:rPr lang="en-IN" smtClean="0"/>
              <a:t>02-06-2026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07AF72-5B58-4E25-9F4A-2CCF68575A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573789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90E77E-673E-4250-A106-CFE1ADCFFCBD}" type="datetimeFigureOut">
              <a:rPr lang="en-IN" smtClean="0"/>
              <a:t>02-06-2026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07AF72-5B58-4E25-9F4A-2CCF68575A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723167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90E77E-673E-4250-A106-CFE1ADCFFCBD}" type="datetimeFigureOut">
              <a:rPr lang="en-IN" smtClean="0"/>
              <a:t>02-06-2026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07AF72-5B58-4E25-9F4A-2CCF68575A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513380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90E77E-673E-4250-A106-CFE1ADCFFCBD}" type="datetimeFigureOut">
              <a:rPr lang="en-IN" smtClean="0"/>
              <a:t>02-06-2026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07AF72-5B58-4E25-9F4A-2CCF68575A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111750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90E77E-673E-4250-A106-CFE1ADCFFCBD}" type="datetimeFigureOut">
              <a:rPr lang="en-IN" smtClean="0"/>
              <a:t>02-06-2026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07AF72-5B58-4E25-9F4A-2CCF68575A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354005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90E77E-673E-4250-A106-CFE1ADCFFCBD}" type="datetimeFigureOut">
              <a:rPr lang="en-IN" smtClean="0"/>
              <a:t>02-06-2026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07AF72-5B58-4E25-9F4A-2CCF68575A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742175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90E77E-673E-4250-A106-CFE1ADCFFCBD}" type="datetimeFigureOut">
              <a:rPr lang="en-IN" smtClean="0"/>
              <a:t>02-06-2026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07AF72-5B58-4E25-9F4A-2CCF68575A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12455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mailto:ubuntu@13.113.49.93" TargetMode="Externa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20417" y="1122363"/>
            <a:ext cx="10190922" cy="2387600"/>
          </a:xfrm>
        </p:spPr>
        <p:txBody>
          <a:bodyPr>
            <a:normAutofit/>
          </a:bodyPr>
          <a:lstStyle/>
          <a:p>
            <a:r>
              <a:rPr lang="en-US" sz="4800" dirty="0" smtClean="0">
                <a:latin typeface="+mn-lt"/>
              </a:rPr>
              <a:t>MULTI TIER ARCHITECTURE USING AWS</a:t>
            </a:r>
            <a:endParaRPr lang="en-IN" sz="4800" dirty="0">
              <a:latin typeface="+mn-lt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25000" lnSpcReduction="20000"/>
          </a:bodyPr>
          <a:lstStyle/>
          <a:p>
            <a:r>
              <a:rPr lang="en-US" sz="9600" dirty="0" smtClean="0"/>
              <a:t>CAR PARKING BOOKIING SYSTEM</a:t>
            </a:r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r>
              <a:rPr lang="en-US" dirty="0" smtClean="0"/>
              <a:t>                                                                                                                                                                                                                                                      </a:t>
            </a:r>
            <a:r>
              <a:rPr lang="en-US" sz="8000" dirty="0" smtClean="0"/>
              <a:t>M SATHISHKUMAR</a:t>
            </a:r>
          </a:p>
          <a:p>
            <a:r>
              <a:rPr lang="en-US" sz="8000" dirty="0" smtClean="0"/>
              <a:t>                                                                                                   Class time : 3.30 PM To 5.00 PM</a:t>
            </a:r>
          </a:p>
          <a:p>
            <a:r>
              <a:rPr lang="en-US" sz="8000" dirty="0" smtClean="0"/>
              <a:t>                                                                                      Joining date : 06.03.2026</a:t>
            </a:r>
          </a:p>
          <a:p>
            <a:endParaRPr lang="en-US" sz="8000" dirty="0"/>
          </a:p>
          <a:p>
            <a:endParaRPr lang="en-US" sz="8000" dirty="0" smtClean="0"/>
          </a:p>
          <a:p>
            <a:endParaRPr lang="en-US" sz="8000" dirty="0"/>
          </a:p>
          <a:p>
            <a:endParaRPr lang="en-US" sz="8000" dirty="0" smtClean="0"/>
          </a:p>
          <a:p>
            <a:endParaRPr lang="en-US" sz="8000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768097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INDEX</a:t>
            </a:r>
            <a:endParaRPr lang="en-IN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742950" lvl="1" indent="-285750" algn="just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"/>
            </a:pPr>
            <a:r>
              <a:rPr lang="en-US" sz="2800" dirty="0" smtClean="0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Introduction</a:t>
            </a:r>
            <a:endParaRPr lang="en-US" sz="2800" dirty="0" smtClean="0">
              <a:effectLst/>
              <a:cs typeface="Times New Roman" panose="02020603050405020304" pitchFamily="18" charset="0"/>
            </a:endParaRPr>
          </a:p>
          <a:p>
            <a:pPr marL="742950" lvl="1" indent="-285750" algn="just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"/>
            </a:pPr>
            <a:r>
              <a:rPr lang="en-US" sz="2800" dirty="0" smtClean="0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Objectives</a:t>
            </a:r>
            <a:endParaRPr lang="en-US" sz="2800" dirty="0" smtClean="0">
              <a:effectLst/>
              <a:cs typeface="Times New Roman" panose="02020603050405020304" pitchFamily="18" charset="0"/>
            </a:endParaRPr>
          </a:p>
          <a:p>
            <a:pPr marL="742950" lvl="1" indent="-285750" algn="just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"/>
            </a:pPr>
            <a:r>
              <a:rPr lang="en-US" sz="2800" dirty="0" smtClean="0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Architecture overview</a:t>
            </a:r>
            <a:endParaRPr lang="en-US" sz="2800" dirty="0" smtClean="0">
              <a:effectLst/>
              <a:cs typeface="Times New Roman" panose="02020603050405020304" pitchFamily="18" charset="0"/>
            </a:endParaRPr>
          </a:p>
          <a:p>
            <a:pPr marL="742950" lvl="1" indent="-285750" algn="just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"/>
            </a:pPr>
            <a:r>
              <a:rPr lang="en-US" sz="2800" dirty="0" smtClean="0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Diagram</a:t>
            </a:r>
            <a:endParaRPr lang="en-US" sz="2800" dirty="0" smtClean="0">
              <a:effectLst/>
              <a:cs typeface="Times New Roman" panose="02020603050405020304" pitchFamily="18" charset="0"/>
            </a:endParaRPr>
          </a:p>
          <a:p>
            <a:pPr marL="742950" lvl="1" indent="-285750" algn="just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"/>
            </a:pPr>
            <a:r>
              <a:rPr lang="en-US" sz="2800" dirty="0" smtClean="0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Technologies used</a:t>
            </a:r>
            <a:endParaRPr lang="en-US" sz="2800" dirty="0" smtClean="0">
              <a:effectLst/>
              <a:cs typeface="Times New Roman" panose="02020603050405020304" pitchFamily="18" charset="0"/>
            </a:endParaRPr>
          </a:p>
          <a:p>
            <a:pPr marL="742950" lvl="1" indent="-285750" algn="just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"/>
            </a:pPr>
            <a:r>
              <a:rPr lang="en-US" sz="2800" dirty="0" smtClean="0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AWS Components used</a:t>
            </a:r>
            <a:endParaRPr lang="en-US" sz="2800" dirty="0" smtClean="0">
              <a:effectLst/>
              <a:cs typeface="Times New Roman" panose="02020603050405020304" pitchFamily="18" charset="0"/>
            </a:endParaRPr>
          </a:p>
          <a:p>
            <a:pPr marL="742950" lvl="1" indent="-285750" algn="just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"/>
            </a:pPr>
            <a:r>
              <a:rPr lang="en-US" sz="2800" dirty="0" smtClean="0">
                <a:solidFill>
                  <a:srgbClr val="000000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Implementation steps</a:t>
            </a:r>
            <a:endParaRPr lang="en-US" sz="2800" dirty="0" smtClean="0">
              <a:effectLst/>
              <a:cs typeface="Times New Roman" panose="02020603050405020304" pitchFamily="18" charset="0"/>
            </a:endParaRPr>
          </a:p>
          <a:p>
            <a:pPr marL="742950" lvl="1" indent="-285750" algn="just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"/>
            </a:pPr>
            <a:r>
              <a:rPr lang="en-US" sz="2800" dirty="0" smtClean="0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Working flow</a:t>
            </a:r>
            <a:endParaRPr lang="en-US" sz="2800" dirty="0" smtClean="0">
              <a:effectLst/>
              <a:cs typeface="Times New Roman" panose="02020603050405020304" pitchFamily="18" charset="0"/>
            </a:endParaRPr>
          </a:p>
          <a:p>
            <a:pPr marL="742950" lvl="1" indent="-285750" algn="just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"/>
            </a:pPr>
            <a:r>
              <a:rPr lang="en-US" sz="2800" dirty="0" smtClean="0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Conclusion</a:t>
            </a:r>
            <a:endParaRPr lang="en-US" sz="2800" dirty="0" smtClean="0">
              <a:effectLst/>
              <a:cs typeface="Times New Roman" panose="02020603050405020304" pitchFamily="18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608388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1C1E8F8-04D9-F542-20A0-BA902C48906F}"/>
              </a:ext>
            </a:extLst>
          </p:cNvPr>
          <p:cNvSpPr/>
          <p:nvPr/>
        </p:nvSpPr>
        <p:spPr>
          <a:xfrm>
            <a:off x="149445" y="195855"/>
            <a:ext cx="463447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INTRODUCTION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7BE4C22-7813-E461-1CC1-4C9B182FD048}"/>
              </a:ext>
            </a:extLst>
          </p:cNvPr>
          <p:cNvSpPr txBox="1"/>
          <p:nvPr/>
        </p:nvSpPr>
        <p:spPr>
          <a:xfrm>
            <a:off x="1178351" y="1852270"/>
            <a:ext cx="9568205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/>
              <a:t>Multi-tier architecture is a software design pattern that separates an application into different layers (tiers). Each tier has a specific responsibility, improving scalability, security, and maintainability.</a:t>
            </a:r>
          </a:p>
          <a:p>
            <a:endParaRPr lang="en-IN" sz="2400" dirty="0"/>
          </a:p>
          <a:p>
            <a:r>
              <a:rPr lang="en-IN" sz="2400" dirty="0"/>
              <a:t>In this project, we developed a </a:t>
            </a:r>
            <a:r>
              <a:rPr lang="en-IN" sz="2400" dirty="0" smtClean="0"/>
              <a:t>Car Parking </a:t>
            </a:r>
            <a:r>
              <a:rPr lang="en-IN" sz="2400" dirty="0"/>
              <a:t>Booking System using a 3-tier architecture:</a:t>
            </a:r>
          </a:p>
          <a:p>
            <a:endParaRPr lang="en-IN" sz="2400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400" dirty="0"/>
              <a:t>Frontend (Presentation Layer)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400" dirty="0"/>
              <a:t>Backend (Application Layer)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400" dirty="0"/>
              <a:t>Database (Data Layer)</a:t>
            </a:r>
          </a:p>
        </p:txBody>
      </p:sp>
    </p:spTree>
    <p:extLst>
      <p:ext uri="{BB962C8B-B14F-4D97-AF65-F5344CB8AC3E}">
        <p14:creationId xmlns:p14="http://schemas.microsoft.com/office/powerpoint/2010/main" val="1767054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1B1F434-3CA9-9DC7-56A7-8F17C7C36D91}"/>
              </a:ext>
            </a:extLst>
          </p:cNvPr>
          <p:cNvSpPr/>
          <p:nvPr/>
        </p:nvSpPr>
        <p:spPr>
          <a:xfrm>
            <a:off x="114458" y="92160"/>
            <a:ext cx="3497817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OBJECTIVES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CE592E3-E17D-127A-B724-00F3EF472125}"/>
              </a:ext>
            </a:extLst>
          </p:cNvPr>
          <p:cNvSpPr txBox="1"/>
          <p:nvPr/>
        </p:nvSpPr>
        <p:spPr>
          <a:xfrm>
            <a:off x="1743960" y="1868939"/>
            <a:ext cx="7430678" cy="38164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dirty="0"/>
              <a:t>The main objectives of this project are:</a:t>
            </a:r>
          </a:p>
          <a:p>
            <a:endParaRPr lang="en-IN" sz="3200" dirty="0"/>
          </a:p>
          <a:p>
            <a:pPr marL="457200" indent="-457200">
              <a:buFont typeface="Wingdings" panose="05000000000000000000" pitchFamily="2" charset="2"/>
              <a:buChar char="ü"/>
            </a:pPr>
            <a:r>
              <a:rPr lang="en-IN" sz="3200" dirty="0"/>
              <a:t>To understand multi-tier architecture</a:t>
            </a:r>
          </a:p>
          <a:p>
            <a:pPr marL="457200" indent="-457200">
              <a:buFont typeface="Wingdings" panose="05000000000000000000" pitchFamily="2" charset="2"/>
              <a:buChar char="ü"/>
            </a:pPr>
            <a:r>
              <a:rPr lang="en-IN" sz="3200" dirty="0"/>
              <a:t>To build a scalable web application</a:t>
            </a:r>
          </a:p>
          <a:p>
            <a:pPr marL="457200" indent="-457200">
              <a:buFont typeface="Wingdings" panose="05000000000000000000" pitchFamily="2" charset="2"/>
              <a:buChar char="ü"/>
            </a:pPr>
            <a:r>
              <a:rPr lang="en-IN" sz="3200" dirty="0"/>
              <a:t>To separate frontend, backend, and database</a:t>
            </a:r>
          </a:p>
          <a:p>
            <a:pPr marL="457200" indent="-457200">
              <a:buFont typeface="Wingdings" panose="05000000000000000000" pitchFamily="2" charset="2"/>
              <a:buChar char="ü"/>
            </a:pPr>
            <a:r>
              <a:rPr lang="en-IN" sz="3200" dirty="0"/>
              <a:t>To deploy using cloud services (AWS)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929132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E50E60B-E9CD-762E-EC83-3DDE828D65B2}"/>
              </a:ext>
            </a:extLst>
          </p:cNvPr>
          <p:cNvSpPr/>
          <p:nvPr/>
        </p:nvSpPr>
        <p:spPr>
          <a:xfrm>
            <a:off x="0" y="-2605"/>
            <a:ext cx="7694800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ARCHITECTURE OVERVIEW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165399D-A9FB-7907-BBFD-B3EB53E56635}"/>
              </a:ext>
            </a:extLst>
          </p:cNvPr>
          <p:cNvSpPr txBox="1"/>
          <p:nvPr/>
        </p:nvSpPr>
        <p:spPr>
          <a:xfrm>
            <a:off x="520831" y="1317315"/>
            <a:ext cx="624525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/>
              <a:t>Frontend (Presentation Layer)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7335741-0391-D005-695D-9C65EC9858C4}"/>
              </a:ext>
            </a:extLst>
          </p:cNvPr>
          <p:cNvSpPr txBox="1"/>
          <p:nvPr/>
        </p:nvSpPr>
        <p:spPr>
          <a:xfrm>
            <a:off x="879049" y="1903194"/>
            <a:ext cx="624525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sz="2400" dirty="0"/>
              <a:t>Built using HTML, CSS, JavaScript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sz="2400" dirty="0"/>
              <a:t>Hosted using NGINX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sz="2400" dirty="0"/>
              <a:t>User interacts with this layer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783E749-E1DE-9C75-3B28-CDC697F78DDF}"/>
              </a:ext>
            </a:extLst>
          </p:cNvPr>
          <p:cNvSpPr txBox="1"/>
          <p:nvPr/>
        </p:nvSpPr>
        <p:spPr>
          <a:xfrm>
            <a:off x="520831" y="3166182"/>
            <a:ext cx="624525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/>
              <a:t>Backend (Application Layer)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E8B02B3-72BF-E91D-AA64-E7008B542CE7}"/>
              </a:ext>
            </a:extLst>
          </p:cNvPr>
          <p:cNvSpPr txBox="1"/>
          <p:nvPr/>
        </p:nvSpPr>
        <p:spPr>
          <a:xfrm>
            <a:off x="879049" y="3832221"/>
            <a:ext cx="624525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sz="2400" dirty="0"/>
              <a:t>Built using </a:t>
            </a:r>
            <a:r>
              <a:rPr lang="en-IN" sz="2400" dirty="0" smtClean="0"/>
              <a:t>Phython</a:t>
            </a:r>
            <a:r>
              <a:rPr lang="en-IN" sz="2400" dirty="0"/>
              <a:t>3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sz="2400" dirty="0"/>
              <a:t>Handles API requests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sz="2400" dirty="0"/>
              <a:t>Processes booking </a:t>
            </a:r>
            <a:r>
              <a:rPr lang="en-IN" sz="2400" dirty="0" smtClean="0"/>
              <a:t>car data</a:t>
            </a:r>
            <a:endParaRPr lang="en-IN" sz="2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E573E8E-32DD-B3AE-5512-ED1179940D4A}"/>
              </a:ext>
            </a:extLst>
          </p:cNvPr>
          <p:cNvSpPr txBox="1"/>
          <p:nvPr/>
        </p:nvSpPr>
        <p:spPr>
          <a:xfrm>
            <a:off x="520831" y="5175369"/>
            <a:ext cx="624525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/>
              <a:t>Database (Data Layer)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74E0642-730D-6948-B715-A19C5E933EB9}"/>
              </a:ext>
            </a:extLst>
          </p:cNvPr>
          <p:cNvSpPr txBox="1"/>
          <p:nvPr/>
        </p:nvSpPr>
        <p:spPr>
          <a:xfrm>
            <a:off x="879049" y="5964519"/>
            <a:ext cx="6245258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sz="2400" dirty="0" smtClean="0"/>
              <a:t>MySQL</a:t>
            </a:r>
            <a:endParaRPr lang="en-IN" sz="2400" dirty="0"/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sz="2400" dirty="0" smtClean="0"/>
              <a:t>Store car </a:t>
            </a:r>
            <a:r>
              <a:rPr lang="en-IN" sz="2400" dirty="0"/>
              <a:t>booking details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157543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  <p:bldP spid="6" grpId="0"/>
      <p:bldP spid="7" grpId="0"/>
      <p:bldP spid="8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3E6A33F-4AFD-C1DD-B667-EC57A8C84F8F}"/>
              </a:ext>
            </a:extLst>
          </p:cNvPr>
          <p:cNvSpPr/>
          <p:nvPr/>
        </p:nvSpPr>
        <p:spPr>
          <a:xfrm>
            <a:off x="95958" y="0"/>
            <a:ext cx="2988062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DIAGRAM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9989" y="1214219"/>
            <a:ext cx="3362794" cy="3134162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7208" y="1214219"/>
            <a:ext cx="2562583" cy="3753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82369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6FD0EB5-AF7A-1DC6-D3D7-F6069CDEF3CA}"/>
              </a:ext>
            </a:extLst>
          </p:cNvPr>
          <p:cNvSpPr/>
          <p:nvPr/>
        </p:nvSpPr>
        <p:spPr>
          <a:xfrm>
            <a:off x="160255" y="443060"/>
            <a:ext cx="6237990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TECHNOLOGIES USED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8053968-1186-A682-23AB-BF55C1680F18}"/>
              </a:ext>
            </a:extLst>
          </p:cNvPr>
          <p:cNvSpPr txBox="1"/>
          <p:nvPr/>
        </p:nvSpPr>
        <p:spPr>
          <a:xfrm>
            <a:off x="1146928" y="2178213"/>
            <a:ext cx="9898144" cy="33855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/>
              <a:t>Frontend:   </a:t>
            </a:r>
            <a:r>
              <a:rPr lang="en-IN" sz="2800" dirty="0"/>
              <a:t>HTML, CSS, JavaScript</a:t>
            </a:r>
          </a:p>
          <a:p>
            <a:r>
              <a:rPr lang="en-IN" sz="2800" b="1" dirty="0"/>
              <a:t>Backend:    </a:t>
            </a:r>
            <a:r>
              <a:rPr lang="en-IN" sz="2800" dirty="0" smtClean="0"/>
              <a:t>Phython3</a:t>
            </a:r>
            <a:endParaRPr lang="en-IN" sz="2800" dirty="0"/>
          </a:p>
          <a:p>
            <a:r>
              <a:rPr lang="en-IN" sz="2800" b="1" dirty="0"/>
              <a:t>Web Server:   </a:t>
            </a:r>
            <a:r>
              <a:rPr lang="en-IN" sz="2800" dirty="0"/>
              <a:t>NGINX</a:t>
            </a:r>
          </a:p>
          <a:p>
            <a:r>
              <a:rPr lang="en-IN" sz="2800" b="1" dirty="0"/>
              <a:t>Database:   </a:t>
            </a:r>
            <a:r>
              <a:rPr lang="en-IN" sz="2800" dirty="0" smtClean="0"/>
              <a:t>MySQL</a:t>
            </a:r>
            <a:endParaRPr lang="en-IN" sz="2800" dirty="0"/>
          </a:p>
          <a:p>
            <a:r>
              <a:rPr lang="en-IN" sz="2800" b="1" dirty="0"/>
              <a:t>Cloud Platform:   </a:t>
            </a:r>
            <a:r>
              <a:rPr lang="en-IN" sz="2800" dirty="0"/>
              <a:t>Amazon Web Services</a:t>
            </a:r>
          </a:p>
          <a:p>
            <a:r>
              <a:rPr lang="en-IN" sz="2800" b="1" dirty="0"/>
              <a:t>Compute:    </a:t>
            </a:r>
            <a:r>
              <a:rPr lang="en-IN" sz="2800" dirty="0"/>
              <a:t>EC2 Instances</a:t>
            </a:r>
          </a:p>
          <a:p>
            <a:r>
              <a:rPr lang="en-IN" sz="2800" b="1" dirty="0"/>
              <a:t>Networking:  </a:t>
            </a:r>
            <a:r>
              <a:rPr lang="en-IN" sz="2800" dirty="0" smtClean="0"/>
              <a:t>Subnets</a:t>
            </a:r>
            <a:endParaRPr lang="en-IN" sz="2800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615731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8A98F4F-9011-B277-61F4-EC5090EC65DB}"/>
              </a:ext>
            </a:extLst>
          </p:cNvPr>
          <p:cNvSpPr/>
          <p:nvPr/>
        </p:nvSpPr>
        <p:spPr>
          <a:xfrm>
            <a:off x="0" y="433633"/>
            <a:ext cx="7441589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AWS COMPONENTS USED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B796CA4-38D1-6041-93CB-3D08A0B707AF}"/>
              </a:ext>
            </a:extLst>
          </p:cNvPr>
          <p:cNvSpPr txBox="1"/>
          <p:nvPr/>
        </p:nvSpPr>
        <p:spPr>
          <a:xfrm>
            <a:off x="1536568" y="2326140"/>
            <a:ext cx="8502977" cy="20928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en-IN" sz="2800" b="1" dirty="0" smtClean="0"/>
              <a:t>Public </a:t>
            </a:r>
            <a:r>
              <a:rPr lang="en-IN" sz="2800" b="1" dirty="0"/>
              <a:t>Subnet </a:t>
            </a:r>
            <a:r>
              <a:rPr lang="en-IN" sz="2800" dirty="0"/>
              <a:t>– for frontend (NGINX server)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IN" sz="2800" b="1" dirty="0" smtClean="0"/>
              <a:t>EC2 </a:t>
            </a:r>
            <a:r>
              <a:rPr lang="en-IN" sz="2800" b="1" dirty="0"/>
              <a:t>Instances </a:t>
            </a:r>
            <a:r>
              <a:rPr lang="en-IN" sz="2800" dirty="0"/>
              <a:t>– to host frontend and backend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IN" sz="2800" b="1" dirty="0" smtClean="0"/>
              <a:t>MySQL </a:t>
            </a:r>
            <a:r>
              <a:rPr lang="en-IN" sz="2800" dirty="0"/>
              <a:t>– for database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IN" sz="2800" b="1" dirty="0"/>
              <a:t>Security Groups </a:t>
            </a:r>
            <a:r>
              <a:rPr lang="en-IN" sz="2800" dirty="0"/>
              <a:t>– firewall rules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889022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3700" y="104354"/>
            <a:ext cx="8196961" cy="2811124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8296" y="3260035"/>
            <a:ext cx="8322365" cy="32732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40530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CEF2C49-35EE-E74A-0BAE-D26BB3526A26}"/>
              </a:ext>
            </a:extLst>
          </p:cNvPr>
          <p:cNvSpPr txBox="1"/>
          <p:nvPr/>
        </p:nvSpPr>
        <p:spPr>
          <a:xfrm>
            <a:off x="153186" y="154698"/>
            <a:ext cx="609442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/>
              <a:t>Install NGINX (frontend)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7C20E63-C010-7583-A1AC-3AC8ADDFBB15}"/>
              </a:ext>
            </a:extLst>
          </p:cNvPr>
          <p:cNvSpPr txBox="1"/>
          <p:nvPr/>
        </p:nvSpPr>
        <p:spPr>
          <a:xfrm>
            <a:off x="370001" y="739007"/>
            <a:ext cx="6094428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 err="1"/>
              <a:t>sudo</a:t>
            </a:r>
            <a:r>
              <a:rPr lang="en-IN" sz="2800" dirty="0"/>
              <a:t> apt update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 err="1"/>
              <a:t>sudo</a:t>
            </a:r>
            <a:r>
              <a:rPr lang="en-IN" sz="2800" dirty="0"/>
              <a:t> apt install nginx -y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 err="1"/>
              <a:t>sudo</a:t>
            </a:r>
            <a:r>
              <a:rPr lang="en-IN" sz="2800" dirty="0"/>
              <a:t> </a:t>
            </a:r>
            <a:r>
              <a:rPr lang="en-IN" sz="2800" dirty="0" err="1"/>
              <a:t>systemctl</a:t>
            </a:r>
            <a:r>
              <a:rPr lang="en-IN" sz="2800" dirty="0"/>
              <a:t> start nginx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 err="1"/>
              <a:t>sudo</a:t>
            </a:r>
            <a:r>
              <a:rPr lang="en-IN" sz="2800" dirty="0"/>
              <a:t> </a:t>
            </a:r>
            <a:r>
              <a:rPr lang="en-IN" sz="2800" dirty="0" err="1"/>
              <a:t>systemctl</a:t>
            </a:r>
            <a:r>
              <a:rPr lang="en-IN" sz="2800" dirty="0"/>
              <a:t> enable nginx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 err="1"/>
              <a:t>sudo</a:t>
            </a:r>
            <a:r>
              <a:rPr lang="en-IN" sz="2800" dirty="0"/>
              <a:t> </a:t>
            </a:r>
            <a:r>
              <a:rPr lang="en-IN" sz="2800" dirty="0" err="1"/>
              <a:t>systemctl</a:t>
            </a:r>
            <a:r>
              <a:rPr lang="en-IN" sz="2800" dirty="0"/>
              <a:t> status nginx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4FE0CFB-C525-ABD2-6D46-6C81A713735A}"/>
              </a:ext>
            </a:extLst>
          </p:cNvPr>
          <p:cNvSpPr txBox="1"/>
          <p:nvPr/>
        </p:nvSpPr>
        <p:spPr>
          <a:xfrm>
            <a:off x="520830" y="4025646"/>
            <a:ext cx="6094428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ubuntu@ip-172-31-21-109:~$ cd /</a:t>
            </a:r>
            <a:r>
              <a:rPr lang="en-IN" dirty="0" err="1"/>
              <a:t>var</a:t>
            </a:r>
            <a:r>
              <a:rPr lang="en-IN" dirty="0"/>
              <a:t>/www/html</a:t>
            </a:r>
          </a:p>
          <a:p>
            <a:r>
              <a:rPr lang="en-IN" dirty="0" smtClean="0"/>
              <a:t>-</a:t>
            </a:r>
            <a:r>
              <a:rPr lang="en-IN" dirty="0" err="1"/>
              <a:t>rw</a:t>
            </a:r>
            <a:r>
              <a:rPr lang="en-IN" dirty="0"/>
              <a:t>-r--r-- 1 root </a:t>
            </a:r>
            <a:r>
              <a:rPr lang="en-IN" dirty="0" err="1"/>
              <a:t>root</a:t>
            </a:r>
            <a:r>
              <a:rPr lang="en-IN" dirty="0"/>
              <a:t> 1176 May 30 17:53 index.nginx-debian.html</a:t>
            </a:r>
          </a:p>
          <a:p>
            <a:r>
              <a:rPr lang="en-IN" dirty="0"/>
              <a:t>-r-------- 1 root </a:t>
            </a:r>
            <a:r>
              <a:rPr lang="en-IN" dirty="0" err="1"/>
              <a:t>root</a:t>
            </a:r>
            <a:r>
              <a:rPr lang="en-IN" dirty="0"/>
              <a:t> 1675 May 30 17:56 </a:t>
            </a:r>
            <a:r>
              <a:rPr lang="en-IN" dirty="0" err="1"/>
              <a:t>keypair.pem</a:t>
            </a:r>
            <a:endParaRPr lang="en-IN" dirty="0"/>
          </a:p>
          <a:p>
            <a:r>
              <a:rPr lang="en-IN" dirty="0"/>
              <a:t>ubuntu@ip-172-31-21-109:/</a:t>
            </a:r>
            <a:r>
              <a:rPr lang="en-IN" dirty="0" err="1"/>
              <a:t>var</a:t>
            </a:r>
            <a:r>
              <a:rPr lang="en-IN" dirty="0"/>
              <a:t>/www/html$ </a:t>
            </a:r>
            <a:r>
              <a:rPr lang="en-IN" dirty="0" err="1"/>
              <a:t>sudo</a:t>
            </a:r>
            <a:r>
              <a:rPr lang="en-IN" dirty="0"/>
              <a:t> </a:t>
            </a:r>
            <a:r>
              <a:rPr lang="en-IN" dirty="0" err="1"/>
              <a:t>nano</a:t>
            </a:r>
            <a:r>
              <a:rPr lang="en-IN" dirty="0"/>
              <a:t> </a:t>
            </a:r>
            <a:r>
              <a:rPr lang="en-IN" dirty="0" smtClean="0"/>
              <a:t>index.nginx-debian.html</a:t>
            </a:r>
          </a:p>
          <a:p>
            <a:r>
              <a:rPr lang="en-IN" dirty="0" err="1"/>
              <a:t>sudo</a:t>
            </a:r>
            <a:r>
              <a:rPr lang="en-IN" dirty="0"/>
              <a:t> </a:t>
            </a:r>
            <a:r>
              <a:rPr lang="en-IN" dirty="0" err="1"/>
              <a:t>nano</a:t>
            </a:r>
            <a:r>
              <a:rPr lang="en-IN" dirty="0"/>
              <a:t> </a:t>
            </a:r>
            <a:r>
              <a:rPr lang="en-IN" dirty="0" err="1"/>
              <a:t>keypair.pem</a:t>
            </a:r>
            <a:endParaRPr lang="en-IN" dirty="0"/>
          </a:p>
          <a:p>
            <a:r>
              <a:rPr lang="en-IN" dirty="0" err="1"/>
              <a:t>sudo</a:t>
            </a:r>
            <a:r>
              <a:rPr lang="en-IN" dirty="0"/>
              <a:t> </a:t>
            </a:r>
            <a:r>
              <a:rPr lang="en-IN" dirty="0" err="1"/>
              <a:t>chmod</a:t>
            </a:r>
            <a:r>
              <a:rPr lang="en-IN" dirty="0"/>
              <a:t> 400 </a:t>
            </a:r>
            <a:r>
              <a:rPr lang="en-IN" dirty="0" err="1"/>
              <a:t>keypair.pem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969073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/>
          <p:nvPr/>
        </p:nvPicPr>
        <p:blipFill>
          <a:blip r:embed="rId2"/>
          <a:stretch>
            <a:fillRect/>
          </a:stretch>
        </p:blipFill>
        <p:spPr>
          <a:xfrm>
            <a:off x="1029306" y="1640551"/>
            <a:ext cx="5731510" cy="663575"/>
          </a:xfrm>
          <a:prstGeom prst="rect">
            <a:avLst/>
          </a:prstGeom>
        </p:spPr>
      </p:pic>
      <p:pic>
        <p:nvPicPr>
          <p:cNvPr id="3" name="Picture 2"/>
          <p:cNvPicPr/>
          <p:nvPr/>
        </p:nvPicPr>
        <p:blipFill>
          <a:blip r:embed="rId3"/>
          <a:stretch>
            <a:fillRect/>
          </a:stretch>
        </p:blipFill>
        <p:spPr>
          <a:xfrm>
            <a:off x="1029306" y="2499530"/>
            <a:ext cx="5731510" cy="1795145"/>
          </a:xfrm>
          <a:prstGeom prst="rect">
            <a:avLst/>
          </a:prstGeom>
        </p:spPr>
      </p:pic>
      <p:pic>
        <p:nvPicPr>
          <p:cNvPr id="4" name="Picture 3"/>
          <p:cNvPicPr/>
          <p:nvPr/>
        </p:nvPicPr>
        <p:blipFill>
          <a:blip r:embed="rId4"/>
          <a:stretch>
            <a:fillRect/>
          </a:stretch>
        </p:blipFill>
        <p:spPr>
          <a:xfrm>
            <a:off x="1029306" y="4397331"/>
            <a:ext cx="5731510" cy="1976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30435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/>
          <p:nvPr/>
        </p:nvPicPr>
        <p:blipFill>
          <a:blip r:embed="rId2"/>
          <a:stretch>
            <a:fillRect/>
          </a:stretch>
        </p:blipFill>
        <p:spPr>
          <a:xfrm>
            <a:off x="1146263" y="843369"/>
            <a:ext cx="5731510" cy="10033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064747" y="2631136"/>
            <a:ext cx="6096000" cy="1585562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Backend code: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sudo</a:t>
            </a: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N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ssh</a:t>
            </a: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-</a:t>
            </a:r>
            <a:r>
              <a:rPr lang="en-IN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N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keypair.pem</a:t>
            </a: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N" u="sng" dirty="0" smtClean="0">
                <a:solidFill>
                  <a:srgbClr val="0563C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  <a:hlinkClick r:id="rId3"/>
              </a:rPr>
              <a:t>ubuntu@</a:t>
            </a:r>
            <a:r>
              <a:rPr lang="en-IN" sz="1600" dirty="0" smtClean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  <a:hlinkClick r:id="rId3"/>
              </a:rPr>
              <a:t>13.113.49.93</a:t>
            </a:r>
            <a:endParaRPr lang="en-IN" sz="1600" dirty="0" smtClean="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dirty="0" err="1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sudo</a:t>
            </a:r>
            <a:r>
              <a:rPr lang="en-IN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apt update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dirty="0" err="1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sudo</a:t>
            </a:r>
            <a:r>
              <a:rPr lang="en-IN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apt install python3 python3-pip python3-venv -y</a:t>
            </a:r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064747" y="4354834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IN" dirty="0" smtClean="0"/>
              <a:t>python3 -m </a:t>
            </a:r>
            <a:r>
              <a:rPr lang="en-IN" dirty="0" err="1" smtClean="0"/>
              <a:t>venv</a:t>
            </a:r>
            <a:r>
              <a:rPr lang="en-IN" dirty="0" smtClean="0"/>
              <a:t> </a:t>
            </a:r>
            <a:r>
              <a:rPr lang="en-IN" dirty="0" err="1" smtClean="0"/>
              <a:t>venv</a:t>
            </a:r>
            <a:endParaRPr lang="en-IN" dirty="0" smtClean="0"/>
          </a:p>
          <a:p>
            <a:r>
              <a:rPr lang="en-IN" dirty="0" smtClean="0"/>
              <a:t>source </a:t>
            </a:r>
            <a:r>
              <a:rPr lang="en-IN" dirty="0" err="1" smtClean="0"/>
              <a:t>venv</a:t>
            </a:r>
            <a:r>
              <a:rPr lang="en-IN" dirty="0" smtClean="0"/>
              <a:t>/bin/activate</a:t>
            </a:r>
            <a:endParaRPr lang="en-IN" dirty="0"/>
          </a:p>
        </p:txBody>
      </p:sp>
      <p:sp>
        <p:nvSpPr>
          <p:cNvPr id="12" name="Rectangle 11"/>
          <p:cNvSpPr/>
          <p:nvPr/>
        </p:nvSpPr>
        <p:spPr>
          <a:xfrm>
            <a:off x="1064747" y="5139301"/>
            <a:ext cx="332693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dirty="0" smtClean="0"/>
              <a:t>pip install flask flask-</a:t>
            </a:r>
            <a:r>
              <a:rPr lang="en-IN" dirty="0" err="1" smtClean="0"/>
              <a:t>cors</a:t>
            </a:r>
            <a:r>
              <a:rPr lang="en-IN" dirty="0" smtClean="0"/>
              <a:t> </a:t>
            </a:r>
            <a:r>
              <a:rPr lang="en-IN" dirty="0" err="1" smtClean="0"/>
              <a:t>pymysql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546020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/>
          <p:nvPr/>
        </p:nvPicPr>
        <p:blipFill>
          <a:blip r:embed="rId2"/>
          <a:stretch>
            <a:fillRect/>
          </a:stretch>
        </p:blipFill>
        <p:spPr>
          <a:xfrm>
            <a:off x="724224" y="1174857"/>
            <a:ext cx="5731510" cy="906780"/>
          </a:xfrm>
          <a:prstGeom prst="rect">
            <a:avLst/>
          </a:prstGeom>
        </p:spPr>
      </p:pic>
      <p:pic>
        <p:nvPicPr>
          <p:cNvPr id="3" name="Picture 2"/>
          <p:cNvPicPr/>
          <p:nvPr/>
        </p:nvPicPr>
        <p:blipFill>
          <a:blip r:embed="rId3"/>
          <a:stretch>
            <a:fillRect/>
          </a:stretch>
        </p:blipFill>
        <p:spPr>
          <a:xfrm>
            <a:off x="657549" y="2516003"/>
            <a:ext cx="5731510" cy="16878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97630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048000" y="-6449714"/>
            <a:ext cx="6096000" cy="9553256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ubuntu@ip-172-31-34-145:~$ </a:t>
            </a:r>
            <a:r>
              <a:rPr lang="en-IN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mkdir</a:t>
            </a: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parking-backend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cd parking-backend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python3 -m </a:t>
            </a:r>
            <a:r>
              <a:rPr lang="en-IN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venv</a:t>
            </a: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N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venv</a:t>
            </a:r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source </a:t>
            </a:r>
            <a:r>
              <a:rPr lang="en-IN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venv</a:t>
            </a: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/bin/activate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en-IN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venv</a:t>
            </a: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 ubuntu@ip-172-31-34-145:~/parking-backend$ 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en-IN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venv</a:t>
            </a: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 ubuntu@ip-172-31-34-145:~/parking-backend$ ls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venv</a:t>
            </a:r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en-IN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venv</a:t>
            </a: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 ubuntu@ip-172-31-34-145:~/parking-backend$ </a:t>
            </a:r>
            <a:r>
              <a:rPr lang="en-IN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pwd</a:t>
            </a:r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/home/</a:t>
            </a:r>
            <a:r>
              <a:rPr lang="en-IN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ubuntu</a:t>
            </a: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/parking-backend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en-IN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venv</a:t>
            </a: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 ubuntu@ip-172-31-34-145:~/parking-backend$ 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en-IN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venv</a:t>
            </a: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 ubuntu@ip-172-31-34-145:~/parking-backend$ pip install flask flask-</a:t>
            </a:r>
            <a:r>
              <a:rPr lang="en-IN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cors</a:t>
            </a: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N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pymysql</a:t>
            </a:r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Collecting flask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Downloading flask-3.1.3-py3-none-any.whl.metadata (3.2 kB)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Collecting flask-</a:t>
            </a:r>
            <a:r>
              <a:rPr lang="en-IN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cors</a:t>
            </a:r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Downloading flask_cors-6.0.2-py3-none-any.whl.metadata (5.3 kB)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Collecting </a:t>
            </a:r>
            <a:r>
              <a:rPr lang="en-IN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pymysql</a:t>
            </a:r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Downloading pymysql-1.2.0-py3-none-any.whl.metadata (4.3 kB)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Collecting blinker&gt;=1.9.0 (from flask)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Downloading blinker-1.9.0-py3-none-any.whl.metadata (1.6 kB)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Collecting click&gt;=8.1.3 (from flask)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Downloading click-8.4.1-py3-none-any.whl.metadata (2.6 kB)</a:t>
            </a:r>
          </a:p>
        </p:txBody>
      </p:sp>
    </p:spTree>
    <p:extLst>
      <p:ext uri="{BB962C8B-B14F-4D97-AF65-F5344CB8AC3E}">
        <p14:creationId xmlns:p14="http://schemas.microsoft.com/office/powerpoint/2010/main" val="34061453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/>
          <p:nvPr/>
        </p:nvPicPr>
        <p:blipFill>
          <a:blip r:embed="rId2"/>
          <a:stretch>
            <a:fillRect/>
          </a:stretch>
        </p:blipFill>
        <p:spPr>
          <a:xfrm>
            <a:off x="1954338" y="1449859"/>
            <a:ext cx="5731510" cy="3065145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772093" y="4814027"/>
            <a:ext cx="6096000" cy="148297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en-IN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venv</a:t>
            </a: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 ubuntu@ip-172-31-34-145:~/parking-backend$ </a:t>
            </a:r>
            <a:r>
              <a:rPr lang="en-IN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sudo</a:t>
            </a: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apt install </a:t>
            </a:r>
            <a:r>
              <a:rPr lang="en-IN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mysql</a:t>
            </a: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-server -y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Reading package lists... Done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Building dependency tree... Done</a:t>
            </a:r>
          </a:p>
        </p:txBody>
      </p:sp>
    </p:spTree>
    <p:extLst>
      <p:ext uri="{BB962C8B-B14F-4D97-AF65-F5344CB8AC3E}">
        <p14:creationId xmlns:p14="http://schemas.microsoft.com/office/powerpoint/2010/main" val="18313880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/>
          <p:nvPr/>
        </p:nvPicPr>
        <p:blipFill>
          <a:blip r:embed="rId2"/>
          <a:stretch>
            <a:fillRect/>
          </a:stretch>
        </p:blipFill>
        <p:spPr>
          <a:xfrm>
            <a:off x="1305752" y="1398602"/>
            <a:ext cx="5731510" cy="30613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9258442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/>
          <p:nvPr/>
        </p:nvPicPr>
        <p:blipFill>
          <a:blip r:embed="rId2"/>
          <a:stretch>
            <a:fillRect/>
          </a:stretch>
        </p:blipFill>
        <p:spPr>
          <a:xfrm>
            <a:off x="1316384" y="676223"/>
            <a:ext cx="5731510" cy="2145665"/>
          </a:xfrm>
          <a:prstGeom prst="rect">
            <a:avLst/>
          </a:prstGeom>
        </p:spPr>
      </p:pic>
      <p:pic>
        <p:nvPicPr>
          <p:cNvPr id="3" name="Picture 2"/>
          <p:cNvPicPr/>
          <p:nvPr/>
        </p:nvPicPr>
        <p:blipFill>
          <a:blip r:embed="rId3"/>
          <a:stretch>
            <a:fillRect/>
          </a:stretch>
        </p:blipFill>
        <p:spPr>
          <a:xfrm>
            <a:off x="1316384" y="2974104"/>
            <a:ext cx="5731510" cy="1356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8673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93897" y="-8842875"/>
            <a:ext cx="6096000" cy="19720911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MYSQL Database :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dirty="0" err="1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sudo</a:t>
            </a:r>
            <a:r>
              <a:rPr lang="en-IN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apt update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dirty="0" err="1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sudo</a:t>
            </a:r>
            <a:r>
              <a:rPr lang="en-IN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apt install </a:t>
            </a:r>
            <a:r>
              <a:rPr lang="en-IN" dirty="0" err="1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mysql</a:t>
            </a:r>
            <a:r>
              <a:rPr lang="en-IN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-server –y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dirty="0" err="1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sudo</a:t>
            </a:r>
            <a:r>
              <a:rPr lang="en-IN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N" dirty="0" err="1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systemctl</a:t>
            </a:r>
            <a:r>
              <a:rPr lang="en-IN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start </a:t>
            </a:r>
            <a:r>
              <a:rPr lang="en-IN" dirty="0" err="1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mysql</a:t>
            </a:r>
            <a:endParaRPr lang="en-IN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dirty="0" err="1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sudo</a:t>
            </a:r>
            <a:r>
              <a:rPr lang="en-IN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N" dirty="0" err="1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systemctl</a:t>
            </a:r>
            <a:r>
              <a:rPr lang="en-IN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enable </a:t>
            </a:r>
            <a:r>
              <a:rPr lang="en-IN" dirty="0" err="1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mysql</a:t>
            </a:r>
            <a:endParaRPr lang="en-IN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dirty="0" err="1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sudo</a:t>
            </a:r>
            <a:r>
              <a:rPr lang="en-IN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N" dirty="0" err="1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mysql</a:t>
            </a:r>
            <a:endParaRPr lang="en-IN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CREATE DATABASE </a:t>
            </a:r>
            <a:r>
              <a:rPr lang="en-US" dirty="0" err="1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parkingdb</a:t>
            </a:r>
            <a:r>
              <a:rPr lang="en-US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;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USE </a:t>
            </a:r>
            <a:r>
              <a:rPr lang="en-US" dirty="0" err="1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parkingdb</a:t>
            </a:r>
            <a:r>
              <a:rPr lang="en-US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;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en-IN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venv</a:t>
            </a: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 ubuntu@ip-172-31-34-145:~/parking-backend$ </a:t>
            </a:r>
            <a:r>
              <a:rPr lang="en-IN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sudo</a:t>
            </a: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N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mysql</a:t>
            </a:r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Welcome to the MySQL monitor.  Commands end with ; or \g.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Your MySQL connection id is 10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Server version: 8.0.45-0ubuntu0.24.04.1 (Ubuntu)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Copyright (c) 2000, 2026, Oracle and/or its affiliates.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Oracle is a registered trademark of Oracle Corporation and/or its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affiliates. Other names may be trademarks of their respective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owners.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Type 'help;' or '\h' for help. Type '\c' to clear the current input statement.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mysql</a:t>
            </a: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&gt; CREATE DATABASE </a:t>
            </a:r>
            <a:r>
              <a:rPr lang="en-IN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parkingdb</a:t>
            </a: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;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Query OK, 1 row affected (0.01 sec)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mysql</a:t>
            </a: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&gt; USE </a:t>
            </a:r>
            <a:r>
              <a:rPr lang="en-IN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parkingdb</a:t>
            </a: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;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Database changed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en-IN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venv</a:t>
            </a: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 ubuntu@ip-172-31-34-145:~/parking-backend$ </a:t>
            </a:r>
            <a:r>
              <a:rPr lang="en-IN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sudo</a:t>
            </a: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N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mysql</a:t>
            </a:r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Welcome to the MySQL monitor.  Commands end with ; or \g.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Your MySQL connection id is 10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Server version: 8.0.45-0ubuntu0.24.04.1 (Ubuntu)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Copyright (c) 2000, 2026, Oracle and/or its affiliates.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Oracle is a registered trademark of Oracle Corporation and/or its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affiliates. Other names may be trademarks of their respective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owners.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Type 'help;' or '\h' for help. Type '\c' to clear the current input statement.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mysql</a:t>
            </a: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&gt; CREATE DATABASE </a:t>
            </a:r>
            <a:r>
              <a:rPr lang="en-IN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parkingdb</a:t>
            </a: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;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Query OK, 1 row affected (0.01 sec)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mysql</a:t>
            </a: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&gt; USE </a:t>
            </a:r>
            <a:r>
              <a:rPr lang="en-IN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parkingdb</a:t>
            </a: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;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Database changed</a:t>
            </a:r>
          </a:p>
        </p:txBody>
      </p:sp>
    </p:spTree>
    <p:extLst>
      <p:ext uri="{BB962C8B-B14F-4D97-AF65-F5344CB8AC3E}">
        <p14:creationId xmlns:p14="http://schemas.microsoft.com/office/powerpoint/2010/main" val="17904110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/>
          <p:nvPr/>
        </p:nvPicPr>
        <p:blipFill>
          <a:blip r:embed="rId2"/>
          <a:stretch>
            <a:fillRect/>
          </a:stretch>
        </p:blipFill>
        <p:spPr>
          <a:xfrm>
            <a:off x="561473" y="1333462"/>
            <a:ext cx="5731510" cy="1660525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61473" y="2993987"/>
            <a:ext cx="6096000" cy="437825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mysql</a:t>
            </a: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&gt; USE </a:t>
            </a:r>
            <a:r>
              <a:rPr lang="en-IN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parkingdb</a:t>
            </a: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;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Database changed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mysql</a:t>
            </a: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&gt; CREATE TABLE parking (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-&gt; id INT AUTO_INCREMENT PRIMARY KEY,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-&gt; </a:t>
            </a:r>
            <a:r>
              <a:rPr lang="en-IN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car_no</a:t>
            </a: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VARCHAR(50),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-&gt; phone VARCHAR(20),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-&gt; email VARCHAR(100),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-&gt; model VARCHAR(100),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-&gt; location VARCHAR(50</a:t>
            </a:r>
            <a:r>
              <a:rPr lang="en-IN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),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-&gt; slot VARCHAR(10)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-&gt; );</a:t>
            </a:r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518299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76939" y="1106215"/>
            <a:ext cx="6096000" cy="5666295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mysql</a:t>
            </a: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&gt; CREATE USER '</a:t>
            </a:r>
            <a:r>
              <a:rPr lang="en-IN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parking_user'@'localhost</a:t>
            </a: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' IDENTIFIED BY 'StrongPassword123';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Query OK, 0 rows affected (0.02 sec)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mysql</a:t>
            </a: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&gt; CREATE DATABASE </a:t>
            </a:r>
            <a:r>
              <a:rPr lang="en-IN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parkingdb</a:t>
            </a: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;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ERROR 1007 (HY000): Can't create database '</a:t>
            </a:r>
            <a:r>
              <a:rPr lang="en-IN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parkingdb</a:t>
            </a: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'; database exists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mysql</a:t>
            </a: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&gt; GRANT ALL PRIVILEGES ON parkingdb.* TO '</a:t>
            </a:r>
            <a:r>
              <a:rPr lang="en-IN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parking_user'@'localhost</a:t>
            </a: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';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Query OK, 0 rows affected (0.01 sec)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mysql</a:t>
            </a: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&gt; FLUSH PRIVILEGES;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Query OK, 0 rows affected (0.01 sec)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mysql</a:t>
            </a: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&gt; exit;</a:t>
            </a:r>
          </a:p>
        </p:txBody>
      </p:sp>
    </p:spTree>
    <p:extLst>
      <p:ext uri="{BB962C8B-B14F-4D97-AF65-F5344CB8AC3E}">
        <p14:creationId xmlns:p14="http://schemas.microsoft.com/office/powerpoint/2010/main" val="8032201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/>
          <p:nvPr/>
        </p:nvPicPr>
        <p:blipFill>
          <a:blip r:embed="rId2"/>
          <a:stretch>
            <a:fillRect/>
          </a:stretch>
        </p:blipFill>
        <p:spPr>
          <a:xfrm>
            <a:off x="848551" y="281784"/>
            <a:ext cx="5731510" cy="2615565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848551" y="4413176"/>
            <a:ext cx="2401363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err="1" smtClean="0"/>
              <a:t>Phython</a:t>
            </a:r>
            <a:r>
              <a:rPr lang="en-US" dirty="0" smtClean="0"/>
              <a:t> run command:</a:t>
            </a:r>
            <a:endParaRPr lang="en-IN" dirty="0" smtClean="0"/>
          </a:p>
          <a:p>
            <a:endParaRPr lang="en-IN" dirty="0"/>
          </a:p>
          <a:p>
            <a:r>
              <a:rPr lang="en-IN" dirty="0" smtClean="0"/>
              <a:t>python3 </a:t>
            </a:r>
            <a:r>
              <a:rPr lang="en-IN" dirty="0"/>
              <a:t>app.py</a:t>
            </a:r>
          </a:p>
        </p:txBody>
      </p:sp>
    </p:spTree>
    <p:extLst>
      <p:ext uri="{BB962C8B-B14F-4D97-AF65-F5344CB8AC3E}">
        <p14:creationId xmlns:p14="http://schemas.microsoft.com/office/powerpoint/2010/main" val="13238549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155405" y="-3337891"/>
            <a:ext cx="6096000" cy="13725168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en-IN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venv</a:t>
            </a: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 ubuntu@ip-172-31-34-145:~/parking-backend$ USE </a:t>
            </a:r>
            <a:r>
              <a:rPr lang="en-IN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parkingdb</a:t>
            </a: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;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USE: command not found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en-IN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venv</a:t>
            </a: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 ubuntu@ip-172-31-34-145:~/parking-backend$ use </a:t>
            </a:r>
            <a:r>
              <a:rPr lang="en-IN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parkingdb</a:t>
            </a: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;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Command 'use' not found, did you mean: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command 'fuse' from deb fuse-emulator-</a:t>
            </a:r>
            <a:r>
              <a:rPr lang="en-IN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gtk</a:t>
            </a: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(1.6.0+dfsg1-2)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command 'fuse' from deb fuse-emulator-</a:t>
            </a:r>
            <a:r>
              <a:rPr lang="en-IN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sdl</a:t>
            </a: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(1.6.0+dfsg1-2)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command '</a:t>
            </a:r>
            <a:r>
              <a:rPr lang="en-IN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nse</a:t>
            </a: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' from deb ns2 (2.35+dfsg-5)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command '</a:t>
            </a:r>
            <a:r>
              <a:rPr lang="en-IN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ase</a:t>
            </a: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' from deb </a:t>
            </a:r>
            <a:r>
              <a:rPr lang="en-IN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ase</a:t>
            </a: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(3.22.1-3)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command 'muse' from deb muse (4.2.1-1)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Try: </a:t>
            </a:r>
            <a:r>
              <a:rPr lang="en-IN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sudo</a:t>
            </a: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apt install &lt;deb name&gt;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en-IN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venv</a:t>
            </a: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 ubuntu@ip-172-31-34-145:~/parking-backend$ </a:t>
            </a:r>
            <a:r>
              <a:rPr lang="en-IN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nano</a:t>
            </a: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app.py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en-IN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venv</a:t>
            </a: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 ubuntu@ip-172-31-34-145:~/parking-backend$ 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en-IN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venv</a:t>
            </a: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 ubuntu@ip-172-31-34-145:~/parking-backend$ python3 app.py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* Serving Flask app 'app'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* Debug mode: off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WARNING: This is a development server. Do not use it in a production deployment. Use a production WSGI server instead.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* Running on all addresses (0.0.0.0)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* Running on http://127.0.0.1:5000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* Running on http://172.31.34.145:5000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Press CTRL+C to quit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157.51.183.12 - - [30/May/2026 18:28:01] "OPTIONS /</a:t>
            </a:r>
            <a:r>
              <a:rPr lang="en-IN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api</a:t>
            </a: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/parking HTTP/1.1" 200 -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157.51.183.12 - - [30/May/2026 18:28:01] "POST /</a:t>
            </a:r>
            <a:r>
              <a:rPr lang="en-IN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api</a:t>
            </a: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/parking HTTP/1.1" 200 -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157.51.183.12 - - [30/May/2026 18:31:23] "OPTIONS /</a:t>
            </a:r>
            <a:r>
              <a:rPr lang="en-IN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api</a:t>
            </a: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/parking HTTP/1.1" 200 -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157.51.183.12 - - [30/May/2026 18:31:24] "POST /</a:t>
            </a:r>
            <a:r>
              <a:rPr lang="en-IN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api</a:t>
            </a: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/parking HTTP/1.1" 200 -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^C(</a:t>
            </a:r>
            <a:r>
              <a:rPr lang="en-IN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venv</a:t>
            </a: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 ubuntu@ip-172-31-34-145:~/parking-backend$ </a:t>
            </a:r>
            <a:r>
              <a:rPr lang="en-IN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sudo</a:t>
            </a: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N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mysql</a:t>
            </a:r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Welcome to the MySQL monitor.  Commands end with ; or \g.</a:t>
            </a:r>
          </a:p>
        </p:txBody>
      </p:sp>
    </p:spTree>
    <p:extLst>
      <p:ext uri="{BB962C8B-B14F-4D97-AF65-F5344CB8AC3E}">
        <p14:creationId xmlns:p14="http://schemas.microsoft.com/office/powerpoint/2010/main" val="21048763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/>
          <p:nvPr/>
        </p:nvPicPr>
        <p:blipFill>
          <a:blip r:embed="rId2"/>
          <a:stretch>
            <a:fillRect/>
          </a:stretch>
        </p:blipFill>
        <p:spPr>
          <a:xfrm>
            <a:off x="1273854" y="1439862"/>
            <a:ext cx="5731510" cy="3063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66341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08837" y="-2319669"/>
            <a:ext cx="6096000" cy="11220892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mysql</a:t>
            </a: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&gt; USE </a:t>
            </a:r>
            <a:r>
              <a:rPr lang="en-IN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parkingdb</a:t>
            </a: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;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Reading table information for completion of table and column names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You can turn off this feature to get a quicker </a:t>
            </a:r>
            <a:r>
              <a:rPr lang="en-IN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startup</a:t>
            </a: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with -A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Database changed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mysql</a:t>
            </a: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&gt; SHOW TABLES;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+---------------------+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| </a:t>
            </a:r>
            <a:r>
              <a:rPr lang="en-IN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Tables_in_parkingdb</a:t>
            </a: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|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+---------------------+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| parking             |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+---------------------+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 row in set (0.00 sec)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mysql</a:t>
            </a: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&gt; select * from parking;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+----+----------+------------+-------------------+---------------+----------+------+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| id | </a:t>
            </a:r>
            <a:r>
              <a:rPr lang="en-IN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car_no</a:t>
            </a: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| phone      | email             | model         | location | slot |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+----+----------+------------+-------------------+---------------+----------+------+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|  1 | TN034567 | 8595949349 | sathish@gmail.com | swift </a:t>
            </a:r>
            <a:r>
              <a:rPr lang="en-IN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vxi</a:t>
            </a: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| Chennai  | A1   |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|  2 | TN053467 | 8873987622 | vivek@gmail.com   | </a:t>
            </a:r>
            <a:r>
              <a:rPr lang="en-IN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hyundai</a:t>
            </a: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N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avenu</a:t>
            </a: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| Mumbai   | A2   |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+----+----------+------------+-------------------+---------------+----------+------+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 rows in set (0.00 sec)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  <a:p>
            <a:r>
              <a:rPr lang="en-IN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mysql</a:t>
            </a: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&gt;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473313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/>
          <p:nvPr/>
        </p:nvPicPr>
        <p:blipFill>
          <a:blip r:embed="rId2"/>
          <a:stretch>
            <a:fillRect/>
          </a:stretch>
        </p:blipFill>
        <p:spPr>
          <a:xfrm>
            <a:off x="633575" y="227647"/>
            <a:ext cx="5731510" cy="23869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24275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/>
          <p:nvPr/>
        </p:nvPicPr>
        <p:blipFill>
          <a:blip r:embed="rId2"/>
          <a:stretch>
            <a:fillRect/>
          </a:stretch>
        </p:blipFill>
        <p:spPr>
          <a:xfrm>
            <a:off x="1146264" y="1566501"/>
            <a:ext cx="5940336" cy="2473871"/>
          </a:xfrm>
          <a:prstGeom prst="rect">
            <a:avLst/>
          </a:prstGeom>
        </p:spPr>
      </p:pic>
      <p:pic>
        <p:nvPicPr>
          <p:cNvPr id="3" name="Picture 2"/>
          <p:cNvPicPr/>
          <p:nvPr/>
        </p:nvPicPr>
        <p:blipFill>
          <a:blip r:embed="rId3"/>
          <a:stretch>
            <a:fillRect/>
          </a:stretch>
        </p:blipFill>
        <p:spPr>
          <a:xfrm>
            <a:off x="1146264" y="4470932"/>
            <a:ext cx="6007011" cy="23870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51833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BCB130B-30CE-C1A8-6095-F5598FF40742}"/>
              </a:ext>
            </a:extLst>
          </p:cNvPr>
          <p:cNvSpPr/>
          <p:nvPr/>
        </p:nvSpPr>
        <p:spPr>
          <a:xfrm>
            <a:off x="65988" y="395926"/>
            <a:ext cx="394037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CONCLUSION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1E0B98F-0FD9-536D-6B18-CF006F9FC655}"/>
              </a:ext>
            </a:extLst>
          </p:cNvPr>
          <p:cNvSpPr txBox="1"/>
          <p:nvPr/>
        </p:nvSpPr>
        <p:spPr>
          <a:xfrm>
            <a:off x="378644" y="2326858"/>
            <a:ext cx="11434712" cy="125880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 smtClean="0"/>
              <a:t>The </a:t>
            </a:r>
            <a:r>
              <a:rPr lang="en-US" sz="2800" b="1" dirty="0" smtClean="0"/>
              <a:t>AWS Multi-Tier Car Parking System</a:t>
            </a:r>
            <a:r>
              <a:rPr lang="en-US" sz="2800" dirty="0" smtClean="0"/>
              <a:t> successfully demonstrates a scalable cloud-based application using separate layers for presentation, business logic, and data storage.</a:t>
            </a:r>
          </a:p>
          <a:p>
            <a:r>
              <a:rPr lang="en-US" sz="2800" dirty="0" smtClean="0"/>
              <a:t>The </a:t>
            </a:r>
            <a:r>
              <a:rPr lang="en-US" sz="2800" b="1" dirty="0" smtClean="0"/>
              <a:t>Frontend EC2 instance</a:t>
            </a:r>
            <a:r>
              <a:rPr lang="en-US" sz="2800" dirty="0" smtClean="0"/>
              <a:t> provides a user-friendly interface where users can enter car details such as car number, phone number, email, model, location, and parking slot. </a:t>
            </a:r>
          </a:p>
          <a:p>
            <a:r>
              <a:rPr lang="en-US" sz="2800" dirty="0" smtClean="0"/>
              <a:t>The </a:t>
            </a:r>
            <a:r>
              <a:rPr lang="en-US" sz="2800" b="1" dirty="0" smtClean="0"/>
              <a:t>Backend EC2 instance</a:t>
            </a:r>
            <a:r>
              <a:rPr lang="en-US" sz="2800" dirty="0" smtClean="0"/>
              <a:t> runs a Python Flask application that processes user requests, validates data, and communicates with the database. </a:t>
            </a:r>
          </a:p>
          <a:p>
            <a:r>
              <a:rPr lang="en-US" sz="2800" dirty="0" smtClean="0"/>
              <a:t>The </a:t>
            </a:r>
            <a:r>
              <a:rPr lang="en-US" sz="2800" b="1" dirty="0" smtClean="0"/>
              <a:t>MySQL Database EC2 instance</a:t>
            </a:r>
            <a:r>
              <a:rPr lang="en-US" sz="2800" dirty="0" smtClean="0"/>
              <a:t> securely stores parking registration records and booking information. </a:t>
            </a:r>
          </a:p>
          <a:p>
            <a:r>
              <a:rPr lang="en-US" sz="2800" dirty="0" smtClean="0"/>
              <a:t>This three-tier architecture offers several benefits:</a:t>
            </a:r>
          </a:p>
          <a:p>
            <a:r>
              <a:rPr lang="en-US" sz="2800" b="1" dirty="0" smtClean="0"/>
              <a:t>Scalability:</a:t>
            </a:r>
            <a:r>
              <a:rPr lang="en-US" sz="2800" dirty="0" smtClean="0"/>
              <a:t> Each tier can be scaled independently based on demand. </a:t>
            </a:r>
          </a:p>
          <a:p>
            <a:r>
              <a:rPr lang="en-US" sz="2800" b="1" dirty="0" smtClean="0"/>
              <a:t>Security:</a:t>
            </a:r>
            <a:r>
              <a:rPr lang="en-US" sz="2800" dirty="0" smtClean="0"/>
              <a:t> Database access is restricted to the backend layer, improving data protection. </a:t>
            </a:r>
          </a:p>
          <a:p>
            <a:r>
              <a:rPr lang="en-US" sz="2800" b="1" dirty="0" smtClean="0"/>
              <a:t>Maintainability:</a:t>
            </a:r>
            <a:r>
              <a:rPr lang="en-US" sz="2800" dirty="0" smtClean="0"/>
              <a:t> Frontend, backend, and database components can be managed and updated separately. </a:t>
            </a:r>
          </a:p>
          <a:p>
            <a:r>
              <a:rPr lang="en-US" sz="2800" b="1" dirty="0" smtClean="0"/>
              <a:t>Reliability:</a:t>
            </a:r>
            <a:r>
              <a:rPr lang="en-US" sz="2800" dirty="0" smtClean="0"/>
              <a:t> Separation of services reduces the impact of failures and improves system stability. </a:t>
            </a:r>
          </a:p>
          <a:p>
            <a:r>
              <a:rPr lang="en-US" sz="2800" dirty="0" smtClean="0"/>
              <a:t>When a user books a parking slot, the request flows from the frontend to the backend API, which stores the booking details in the MySQL database and returns a confirmation message. This architecture follows industry best practices for deploying web applications on AWS and provides a strong foundation for future enhancements such as user authentication, real-time slot availability, payment integration, email notifications, monitoring, and load balancing.</a:t>
            </a:r>
          </a:p>
          <a:p>
            <a:r>
              <a:rPr lang="en-US" sz="2800" dirty="0" smtClean="0"/>
              <a:t>Overall, the project demonstrates how AWS EC2, Python Flask, HTML/CSS/JavaScript, and MySQL can be integrated to build a complete cloud-based Car Parking Management System using a multi-tier architecture.</a:t>
            </a:r>
          </a:p>
          <a:p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7042161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136</TotalTime>
  <Words>933</Words>
  <Application>Microsoft Office PowerPoint</Application>
  <PresentationFormat>Widescreen</PresentationFormat>
  <Paragraphs>248</Paragraphs>
  <Slides>27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3" baseType="lpstr">
      <vt:lpstr>Arial</vt:lpstr>
      <vt:lpstr>Calibri</vt:lpstr>
      <vt:lpstr>Calibri Light</vt:lpstr>
      <vt:lpstr>Times New Roman</vt:lpstr>
      <vt:lpstr>Wingdings</vt:lpstr>
      <vt:lpstr>Office Theme</vt:lpstr>
      <vt:lpstr>MULTI TIER ARCHITECTURE USING AWS</vt:lpstr>
      <vt:lpstr>INDEX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 TIER ARCHITECTURE USING AWS</dc:title>
  <dc:creator>hp</dc:creator>
  <cp:lastModifiedBy>hp</cp:lastModifiedBy>
  <cp:revision>66</cp:revision>
  <dcterms:created xsi:type="dcterms:W3CDTF">2026-06-01T13:21:59Z</dcterms:created>
  <dcterms:modified xsi:type="dcterms:W3CDTF">2026-06-02T14:41:58Z</dcterms:modified>
</cp:coreProperties>
</file>